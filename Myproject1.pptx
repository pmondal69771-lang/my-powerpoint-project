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8" r:id="rId1"/>
  </p:sldMasterIdLst>
  <p:sldIdLst>
    <p:sldId id="256" r:id="rId2"/>
    <p:sldId id="261" r:id="rId3"/>
    <p:sldId id="260" r:id="rId4"/>
    <p:sldId id="262" r:id="rId5"/>
    <p:sldId id="263" r:id="rId6"/>
    <p:sldId id="264" r:id="rId7"/>
    <p:sldId id="265" r:id="rId8"/>
    <p:sldId id="266" r:id="rId9"/>
    <p:sldId id="271" r:id="rId10"/>
    <p:sldId id="268" r:id="rId11"/>
    <p:sldId id="272"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IN"/>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4458DA4F-1CB6-4C66-A444-5660C0768A4B}" type="slidenum">
              <a:rPr lang="en-IN" smtClean="0"/>
              <a:t>‹#›</a:t>
            </a:fld>
            <a:endParaRPr lang="en-IN"/>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7195419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4458DA4F-1CB6-4C66-A444-5660C0768A4B}" type="slidenum">
              <a:rPr lang="en-IN" smtClean="0"/>
              <a:t>‹#›</a:t>
            </a:fld>
            <a:endParaRPr lang="en-IN"/>
          </a:p>
        </p:txBody>
      </p:sp>
    </p:spTree>
    <p:extLst>
      <p:ext uri="{BB962C8B-B14F-4D97-AF65-F5344CB8AC3E}">
        <p14:creationId xmlns:p14="http://schemas.microsoft.com/office/powerpoint/2010/main" val="18851884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IN"/>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4458DA4F-1CB6-4C66-A444-5660C0768A4B}" type="slidenum">
              <a:rPr lang="en-IN" smtClean="0"/>
              <a:t>‹#›</a:t>
            </a:fld>
            <a:endParaRPr lang="en-IN"/>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3">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38286183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3">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IN"/>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4458DA4F-1CB6-4C66-A444-5660C0768A4B}" type="slidenum">
              <a:rPr lang="en-IN" smtClean="0"/>
              <a:t>‹#›</a:t>
            </a:fld>
            <a:endParaRPr lang="en-IN"/>
          </a:p>
        </p:txBody>
      </p:sp>
    </p:spTree>
    <p:extLst>
      <p:ext uri="{BB962C8B-B14F-4D97-AF65-F5344CB8AC3E}">
        <p14:creationId xmlns:p14="http://schemas.microsoft.com/office/powerpoint/2010/main" val="3686701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458DA4F-1CB6-4C66-A444-5660C0768A4B}" type="slidenum">
              <a:rPr lang="en-IN" smtClean="0"/>
              <a:t>‹#›</a:t>
            </a:fld>
            <a:endParaRPr lang="en-IN"/>
          </a:p>
        </p:txBody>
      </p:sp>
    </p:spTree>
    <p:extLst>
      <p:ext uri="{BB962C8B-B14F-4D97-AF65-F5344CB8AC3E}">
        <p14:creationId xmlns:p14="http://schemas.microsoft.com/office/powerpoint/2010/main" val="14516936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IN"/>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458DA4F-1CB6-4C66-A444-5660C0768A4B}" type="slidenum">
              <a:rPr lang="en-IN" smtClean="0"/>
              <a:t>‹#›</a:t>
            </a:fld>
            <a:endParaRPr lang="en-IN"/>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3">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36407742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IN"/>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4458DA4F-1CB6-4C66-A444-5660C0768A4B}" type="slidenum">
              <a:rPr lang="en-IN" smtClean="0"/>
              <a:t>‹#›</a:t>
            </a:fld>
            <a:endParaRPr lang="en-IN"/>
          </a:p>
        </p:txBody>
      </p:sp>
    </p:spTree>
    <p:extLst>
      <p:ext uri="{BB962C8B-B14F-4D97-AF65-F5344CB8AC3E}">
        <p14:creationId xmlns:p14="http://schemas.microsoft.com/office/powerpoint/2010/main" val="21524224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458DA4F-1CB6-4C66-A444-5660C0768A4B}" type="slidenum">
              <a:rPr lang="en-IN" smtClean="0"/>
              <a:t>‹#›</a:t>
            </a:fld>
            <a:endParaRPr lang="en-IN"/>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606860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4458DA4F-1CB6-4C66-A444-5660C0768A4B}" type="slidenum">
              <a:rPr lang="en-IN" smtClean="0"/>
              <a:t>‹#›</a:t>
            </a:fld>
            <a:endParaRPr lang="en-IN"/>
          </a:p>
        </p:txBody>
      </p:sp>
    </p:spTree>
    <p:extLst>
      <p:ext uri="{BB962C8B-B14F-4D97-AF65-F5344CB8AC3E}">
        <p14:creationId xmlns:p14="http://schemas.microsoft.com/office/powerpoint/2010/main" val="16437112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EDDA05E6-D503-4C82-A553-CA50DF9A91FF}" type="datetimeFigureOut">
              <a:rPr lang="en-IN" smtClean="0"/>
              <a:t>15-10-2026</a:t>
            </a:fld>
            <a:endParaRPr lang="en-IN"/>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3">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458DA4F-1CB6-4C66-A444-5660C0768A4B}" type="slidenum">
              <a:rPr lang="en-IN" smtClean="0"/>
              <a:t>‹#›</a:t>
            </a:fld>
            <a:endParaRPr lang="en-IN"/>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83515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3">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458DA4F-1CB6-4C66-A444-5660C0768A4B}" type="slidenum">
              <a:rPr lang="en-IN" smtClean="0"/>
              <a:t>‹#›</a:t>
            </a:fld>
            <a:endParaRPr lang="en-IN"/>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086903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3">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458DA4F-1CB6-4C66-A444-5660C0768A4B}" type="slidenum">
              <a:rPr lang="en-IN" smtClean="0"/>
              <a:t>‹#›</a:t>
            </a:fld>
            <a:endParaRPr lang="en-IN"/>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1396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3">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4458DA4F-1CB6-4C66-A444-5660C0768A4B}" type="slidenum">
              <a:rPr lang="en-IN" smtClean="0"/>
              <a:t>‹#›</a:t>
            </a:fld>
            <a:endParaRPr lang="en-IN"/>
          </a:p>
        </p:txBody>
      </p:sp>
    </p:spTree>
    <p:extLst>
      <p:ext uri="{BB962C8B-B14F-4D97-AF65-F5344CB8AC3E}">
        <p14:creationId xmlns:p14="http://schemas.microsoft.com/office/powerpoint/2010/main" val="619019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4458DA4F-1CB6-4C66-A444-5660C0768A4B}" type="slidenum">
              <a:rPr lang="en-IN" smtClean="0"/>
              <a:t>‹#›</a:t>
            </a:fld>
            <a:endParaRPr lang="en-IN"/>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7976459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4458DA4F-1CB6-4C66-A444-5660C0768A4B}" type="slidenum">
              <a:rPr lang="en-IN" smtClean="0"/>
              <a:t>‹#›</a:t>
            </a:fld>
            <a:endParaRPr lang="en-IN"/>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6133664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4458DA4F-1CB6-4C66-A444-5660C0768A4B}" type="slidenum">
              <a:rPr lang="en-IN" smtClean="0"/>
              <a:t>‹#›</a:t>
            </a:fld>
            <a:endParaRPr lang="en-IN"/>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3">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5542785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458DA4F-1CB6-4C66-A444-5660C0768A4B}" type="slidenum">
              <a:rPr lang="en-IN" smtClean="0"/>
              <a:t>‹#›</a:t>
            </a:fld>
            <a:endParaRPr lang="en-IN"/>
          </a:p>
        </p:txBody>
      </p:sp>
    </p:spTree>
    <p:extLst>
      <p:ext uri="{BB962C8B-B14F-4D97-AF65-F5344CB8AC3E}">
        <p14:creationId xmlns:p14="http://schemas.microsoft.com/office/powerpoint/2010/main" val="21313488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3">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458DA4F-1CB6-4C66-A444-5660C0768A4B}" type="slidenum">
              <a:rPr lang="en-IN" smtClean="0"/>
              <a:t>‹#›</a:t>
            </a:fld>
            <a:endParaRPr lang="en-IN"/>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32521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4" name="laser.wav"/>
          </p:stSnd>
        </p:sndAc>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458DA4F-1CB6-4C66-A444-5660C0768A4B}" type="slidenum">
              <a:rPr lang="en-IN" smtClean="0"/>
              <a:t>‹#›</a:t>
            </a:fld>
            <a:endParaRPr lang="en-IN"/>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5030941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4458DA4F-1CB6-4C66-A444-5660C0768A4B}" type="slidenum">
              <a:rPr lang="en-IN" smtClean="0"/>
              <a:t>‹#›</a:t>
            </a:fld>
            <a:endParaRPr lang="en-IN"/>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41991860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4458DA4F-1CB6-4C66-A444-5660C0768A4B}" type="slidenum">
              <a:rPr lang="en-IN" smtClean="0"/>
              <a:t>‹#›</a:t>
            </a:fld>
            <a:endParaRPr lang="en-IN"/>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667650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IN"/>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EDDA05E6-D503-4C82-A553-CA50DF9A91FF}" type="datetimeFigureOut">
              <a:rPr lang="en-IN" smtClean="0"/>
              <a:t>15-10-2026</a:t>
            </a:fld>
            <a:endParaRPr lang="en-IN"/>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4458DA4F-1CB6-4C66-A444-5660C0768A4B}" type="slidenum">
              <a:rPr lang="en-IN" smtClean="0"/>
              <a:t>‹#›</a:t>
            </a:fld>
            <a:endParaRPr lang="en-IN"/>
          </a:p>
        </p:txBody>
      </p:sp>
    </p:spTree>
    <p:extLst>
      <p:ext uri="{BB962C8B-B14F-4D97-AF65-F5344CB8AC3E}">
        <p14:creationId xmlns:p14="http://schemas.microsoft.com/office/powerpoint/2010/main" val="12665868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IN"/>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EDDA05E6-D503-4C82-A553-CA50DF9A91FF}" type="datetimeFigureOut">
              <a:rPr lang="en-IN" smtClean="0"/>
              <a:t>15-10-2026</a:t>
            </a:fld>
            <a:endParaRPr lang="en-IN"/>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4458DA4F-1CB6-4C66-A444-5660C0768A4B}" type="slidenum">
              <a:rPr lang="en-IN" smtClean="0"/>
              <a:t>‹#›</a:t>
            </a:fld>
            <a:endParaRPr lang="en-IN"/>
          </a:p>
        </p:txBody>
      </p:sp>
    </p:spTree>
    <p:extLst>
      <p:ext uri="{BB962C8B-B14F-4D97-AF65-F5344CB8AC3E}">
        <p14:creationId xmlns:p14="http://schemas.microsoft.com/office/powerpoint/2010/main" val="3566413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EDDA05E6-D503-4C82-A553-CA50DF9A91FF}" type="datetimeFigureOut">
              <a:rPr lang="en-IN" smtClean="0"/>
              <a:t>15-10-2026</a:t>
            </a:fld>
            <a:endParaRPr lang="en-IN"/>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4458DA4F-1CB6-4C66-A444-5660C0768A4B}" type="slidenum">
              <a:rPr lang="en-IN" smtClean="0"/>
              <a:t>‹#›</a:t>
            </a:fld>
            <a:endParaRPr lang="en-IN"/>
          </a:p>
        </p:txBody>
      </p:sp>
    </p:spTree>
    <p:extLst>
      <p:ext uri="{BB962C8B-B14F-4D97-AF65-F5344CB8AC3E}">
        <p14:creationId xmlns:p14="http://schemas.microsoft.com/office/powerpoint/2010/main" val="11966860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IN"/>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EDDA05E6-D503-4C82-A553-CA50DF9A91FF}" type="datetimeFigureOut">
              <a:rPr lang="en-IN" smtClean="0"/>
              <a:t>15-10-2026</a:t>
            </a:fld>
            <a:endParaRPr lang="en-IN"/>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4458DA4F-1CB6-4C66-A444-5660C0768A4B}" type="slidenum">
              <a:rPr lang="en-IN" smtClean="0"/>
              <a:t>‹#›</a:t>
            </a:fld>
            <a:endParaRPr lang="en-IN"/>
          </a:p>
        </p:txBody>
      </p:sp>
    </p:spTree>
    <p:extLst>
      <p:ext uri="{BB962C8B-B14F-4D97-AF65-F5344CB8AC3E}">
        <p14:creationId xmlns:p14="http://schemas.microsoft.com/office/powerpoint/2010/main" val="22493066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458DA4F-1CB6-4C66-A444-5660C0768A4B}" type="slidenum">
              <a:rPr lang="en-IN" smtClean="0"/>
              <a:t>‹#›</a:t>
            </a:fld>
            <a:endParaRPr lang="en-IN"/>
          </a:p>
        </p:txBody>
      </p:sp>
    </p:spTree>
    <p:extLst>
      <p:ext uri="{BB962C8B-B14F-4D97-AF65-F5344CB8AC3E}">
        <p14:creationId xmlns:p14="http://schemas.microsoft.com/office/powerpoint/2010/main" val="39993381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clusion 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458DA4F-1CB6-4C66-A444-5660C0768A4B}" type="slidenum">
              <a:rPr lang="en-IN" smtClean="0"/>
              <a:t>‹#›</a:t>
            </a:fld>
            <a:endParaRPr lang="en-IN"/>
          </a:p>
        </p:txBody>
      </p:sp>
    </p:spTree>
    <p:extLst>
      <p:ext uri="{BB962C8B-B14F-4D97-AF65-F5344CB8AC3E}">
        <p14:creationId xmlns:p14="http://schemas.microsoft.com/office/powerpoint/2010/main" val="25500736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1" name="laser.wav"/>
          </p:stSnd>
        </p:sndAc>
      </p:transition>
    </mc:Choice>
    <mc:Fallback xmlns="">
      <p:transition spd="slow">
        <p:fade/>
        <p:sndAc>
          <p:stSnd>
            <p:snd r:embed="rId3" name="laser.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audio" Target="../media/audio1.wav"/></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IN"/>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EDDA05E6-D503-4C82-A553-CA50DF9A91FF}" type="datetimeFigureOut">
              <a:rPr lang="en-IN" smtClean="0"/>
              <a:t>15-10-2026</a:t>
            </a:fld>
            <a:endParaRPr lang="en-IN"/>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458DA4F-1CB6-4C66-A444-5660C0768A4B}" type="slidenum">
              <a:rPr lang="en-IN" smtClean="0"/>
              <a:t>‹#›</a:t>
            </a:fld>
            <a:endParaRPr lang="en-IN"/>
          </a:p>
        </p:txBody>
      </p:sp>
    </p:spTree>
    <p:extLst>
      <p:ext uri="{BB962C8B-B14F-4D97-AF65-F5344CB8AC3E}">
        <p14:creationId xmlns:p14="http://schemas.microsoft.com/office/powerpoint/2010/main" val="1135795191"/>
      </p:ext>
    </p:extLst>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 id="2147483908" r:id="rId10"/>
    <p:sldLayoutId id="2147483909" r:id="rId11"/>
    <p:sldLayoutId id="2147483910" r:id="rId12"/>
    <p:sldLayoutId id="2147483911" r:id="rId13"/>
    <p:sldLayoutId id="2147483912" r:id="rId14"/>
    <p:sldLayoutId id="2147483913" r:id="rId15"/>
    <p:sldLayoutId id="2147483914" r:id="rId16"/>
    <p:sldLayoutId id="2147483915" r:id="rId17"/>
    <p:sldLayoutId id="2147483916" r:id="rId18"/>
    <p:sldLayoutId id="2147483917" r:id="rId19"/>
    <p:sldLayoutId id="2147483918" r:id="rId20"/>
    <p:sldLayoutId id="2147483919" r:id="rId21"/>
    <p:sldLayoutId id="2147483920" r:id="rId22"/>
    <p:sldLayoutId id="2147483921" r:id="rId23"/>
    <p:sldLayoutId id="2147483922" r:id="rId24"/>
    <p:sldLayoutId id="2147483923" r:id="rId25"/>
    <p:sldLayoutId id="2147483924" r:id="rId26"/>
    <p:sldLayoutId id="2147483925" r:id="rId27"/>
  </p:sldLayoutIdLst>
  <mc:AlternateContent xmlns:mc="http://schemas.openxmlformats.org/markup-compatibility/2006" xmlns:p15="http://schemas.microsoft.com/office/powerpoint/2012/main">
    <mc:Choice Requires="p15">
      <p:transition xmlns:p14="http://schemas.microsoft.com/office/powerpoint/2010/main" spd="slow" p14:dur="3500">
        <p15:prstTrans prst="origami"/>
        <p:sndAc>
          <p:stSnd>
            <p:snd r:embed="rId29" name="laser.wav"/>
          </p:stSnd>
        </p:sndAc>
      </p:transition>
    </mc:Choice>
    <mc:Fallback xmlns="">
      <p:transition spd="slow">
        <p:fade/>
        <p:sndAc>
          <p:stSnd>
            <p:snd r:embed="rId30" name="laser.wav"/>
          </p:stSnd>
        </p:sndAc>
      </p:transition>
    </mc:Fallback>
  </mc:AlternateConten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audio" Target="../media/audio2.wav"/><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8AEF2-9386-998D-4AC3-2F1B757EF756}"/>
              </a:ext>
            </a:extLst>
          </p:cNvPr>
          <p:cNvSpPr>
            <a:spLocks noGrp="1"/>
          </p:cNvSpPr>
          <p:nvPr>
            <p:ph type="title"/>
          </p:nvPr>
        </p:nvSpPr>
        <p:spPr>
          <a:xfrm>
            <a:off x="134603" y="179974"/>
            <a:ext cx="11631478" cy="1825674"/>
          </a:xfrm>
        </p:spPr>
        <p:txBody>
          <a:bodyPr>
            <a:normAutofit/>
          </a:bodyPr>
          <a:lstStyle/>
          <a:p>
            <a:r>
              <a:rPr lang="en-US" sz="3200" b="1" i="1" spc="0" dirty="0">
                <a:solidFill>
                  <a:schemeClr val="accent5">
                    <a:lumMod val="50000"/>
                  </a:schemeClr>
                </a:solidFill>
                <a:latin typeface="Algerian" pitchFamily="82" charset="0"/>
              </a:rPr>
              <a:t>ADVANTAGE AND DISADVANTAGE  </a:t>
            </a:r>
            <a:br>
              <a:rPr lang="en-US" sz="3200" b="1" i="1" spc="0" dirty="0">
                <a:solidFill>
                  <a:schemeClr val="accent5">
                    <a:lumMod val="50000"/>
                  </a:schemeClr>
                </a:solidFill>
                <a:latin typeface="Algerian" pitchFamily="82" charset="0"/>
              </a:rPr>
            </a:br>
            <a:br>
              <a:rPr lang="en-US" sz="3200" b="1" i="1" spc="0" dirty="0">
                <a:solidFill>
                  <a:schemeClr val="accent5">
                    <a:lumMod val="50000"/>
                  </a:schemeClr>
                </a:solidFill>
                <a:latin typeface="Algerian" pitchFamily="82" charset="0"/>
              </a:rPr>
            </a:br>
            <a:r>
              <a:rPr lang="en-US" sz="3200" b="1" i="1" spc="0" dirty="0">
                <a:solidFill>
                  <a:schemeClr val="accent5">
                    <a:lumMod val="50000"/>
                  </a:schemeClr>
                </a:solidFill>
                <a:latin typeface="Algerian" pitchFamily="82" charset="0"/>
              </a:rPr>
              <a:t>OF SOC IAL MEDIA</a:t>
            </a:r>
          </a:p>
        </p:txBody>
      </p:sp>
      <p:sp>
        <p:nvSpPr>
          <p:cNvPr id="3" name="Subtitle 2">
            <a:extLst>
              <a:ext uri="{FF2B5EF4-FFF2-40B4-BE49-F238E27FC236}">
                <a16:creationId xmlns:a16="http://schemas.microsoft.com/office/drawing/2014/main" id="{2FE24C8E-250E-F64D-A5E5-D29BEFB98C16}"/>
              </a:ext>
            </a:extLst>
          </p:cNvPr>
          <p:cNvSpPr>
            <a:spLocks noGrp="1"/>
          </p:cNvSpPr>
          <p:nvPr>
            <p:ph type="subTitle" idx="1"/>
          </p:nvPr>
        </p:nvSpPr>
        <p:spPr/>
        <p:txBody>
          <a:bodyPr/>
          <a:lstStyle/>
          <a:p>
            <a:r>
              <a:rPr lang="en-US" dirty="0">
                <a:latin typeface="Algerian" pitchFamily="82" charset="0"/>
                <a:cs typeface="Arial" pitchFamily="34" charset="0"/>
              </a:rPr>
              <a:t>Papiya</a:t>
            </a:r>
            <a:r>
              <a:rPr lang="en-IN" dirty="0">
                <a:latin typeface="Algerian" pitchFamily="82" charset="0"/>
                <a:cs typeface="Arial" pitchFamily="34" charset="0"/>
              </a:rPr>
              <a:t> Mondal</a:t>
            </a:r>
            <a:endParaRPr lang="en-US" dirty="0">
              <a:latin typeface="Algerian" pitchFamily="82" charset="0"/>
              <a:cs typeface="Arial" pitchFamily="34" charset="0"/>
            </a:endParaRPr>
          </a:p>
        </p:txBody>
      </p:sp>
      <p:pic>
        <p:nvPicPr>
          <p:cNvPr id="5" name="Picture 4">
            <a:extLst>
              <a:ext uri="{FF2B5EF4-FFF2-40B4-BE49-F238E27FC236}">
                <a16:creationId xmlns:a16="http://schemas.microsoft.com/office/drawing/2014/main" id="{4E754FE8-05B1-C95C-FBDD-7A595B5BF8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658" y="2329227"/>
            <a:ext cx="3667435" cy="2444957"/>
          </a:xfrm>
          <a:prstGeom prst="rect">
            <a:avLst/>
          </a:prstGeom>
        </p:spPr>
      </p:pic>
      <p:pic>
        <p:nvPicPr>
          <p:cNvPr id="7" name="Picture 6">
            <a:extLst>
              <a:ext uri="{FF2B5EF4-FFF2-40B4-BE49-F238E27FC236}">
                <a16:creationId xmlns:a16="http://schemas.microsoft.com/office/drawing/2014/main" id="{75EBC250-7A4E-AFFA-1EB4-66034613D5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67745" y="3058830"/>
            <a:ext cx="2227213" cy="1252807"/>
          </a:xfrm>
          <a:prstGeom prst="rect">
            <a:avLst/>
          </a:prstGeom>
        </p:spPr>
      </p:pic>
    </p:spTree>
    <p:extLst>
      <p:ext uri="{BB962C8B-B14F-4D97-AF65-F5344CB8AC3E}">
        <p14:creationId xmlns:p14="http://schemas.microsoft.com/office/powerpoint/2010/main" val="8364600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sndAc>
          <p:stSnd>
            <p:snd r:embed="rId2" name="bomb.wav"/>
          </p:stSnd>
        </p:sndAc>
      </p:transition>
    </mc:Choice>
    <mc:Fallback xmlns="">
      <p:transition spd="slow">
        <p:fade/>
        <p:sndAc>
          <p:stSnd>
            <p:snd r:embed="rId5"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80">
                                          <p:stCondLst>
                                            <p:cond delay="0"/>
                                          </p:stCondLst>
                                        </p:cTn>
                                        <p:tgtEl>
                                          <p:spTgt spid="5"/>
                                        </p:tgtEl>
                                      </p:cBhvr>
                                    </p:animEffect>
                                    <p:anim calcmode="lin" valueType="num">
                                      <p:cBhvr>
                                        <p:cTn id="14"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9" dur="26">
                                          <p:stCondLst>
                                            <p:cond delay="650"/>
                                          </p:stCondLst>
                                        </p:cTn>
                                        <p:tgtEl>
                                          <p:spTgt spid="5"/>
                                        </p:tgtEl>
                                      </p:cBhvr>
                                      <p:to x="100000" y="60000"/>
                                    </p:animScale>
                                    <p:animScale>
                                      <p:cBhvr>
                                        <p:cTn id="20" dur="166" decel="50000">
                                          <p:stCondLst>
                                            <p:cond delay="676"/>
                                          </p:stCondLst>
                                        </p:cTn>
                                        <p:tgtEl>
                                          <p:spTgt spid="5"/>
                                        </p:tgtEl>
                                      </p:cBhvr>
                                      <p:to x="100000" y="100000"/>
                                    </p:animScale>
                                    <p:animScale>
                                      <p:cBhvr>
                                        <p:cTn id="21" dur="26">
                                          <p:stCondLst>
                                            <p:cond delay="1312"/>
                                          </p:stCondLst>
                                        </p:cTn>
                                        <p:tgtEl>
                                          <p:spTgt spid="5"/>
                                        </p:tgtEl>
                                      </p:cBhvr>
                                      <p:to x="100000" y="80000"/>
                                    </p:animScale>
                                    <p:animScale>
                                      <p:cBhvr>
                                        <p:cTn id="22" dur="166" decel="50000">
                                          <p:stCondLst>
                                            <p:cond delay="1338"/>
                                          </p:stCondLst>
                                        </p:cTn>
                                        <p:tgtEl>
                                          <p:spTgt spid="5"/>
                                        </p:tgtEl>
                                      </p:cBhvr>
                                      <p:to x="100000" y="100000"/>
                                    </p:animScale>
                                    <p:animScale>
                                      <p:cBhvr>
                                        <p:cTn id="23" dur="26">
                                          <p:stCondLst>
                                            <p:cond delay="1642"/>
                                          </p:stCondLst>
                                        </p:cTn>
                                        <p:tgtEl>
                                          <p:spTgt spid="5"/>
                                        </p:tgtEl>
                                      </p:cBhvr>
                                      <p:to x="100000" y="90000"/>
                                    </p:animScale>
                                    <p:animScale>
                                      <p:cBhvr>
                                        <p:cTn id="24" dur="166" decel="50000">
                                          <p:stCondLst>
                                            <p:cond delay="1668"/>
                                          </p:stCondLst>
                                        </p:cTn>
                                        <p:tgtEl>
                                          <p:spTgt spid="5"/>
                                        </p:tgtEl>
                                      </p:cBhvr>
                                      <p:to x="100000" y="100000"/>
                                    </p:animScale>
                                    <p:animScale>
                                      <p:cBhvr>
                                        <p:cTn id="25" dur="26">
                                          <p:stCondLst>
                                            <p:cond delay="1808"/>
                                          </p:stCondLst>
                                        </p:cTn>
                                        <p:tgtEl>
                                          <p:spTgt spid="5"/>
                                        </p:tgtEl>
                                      </p:cBhvr>
                                      <p:to x="100000" y="95000"/>
                                    </p:animScale>
                                    <p:animScale>
                                      <p:cBhvr>
                                        <p:cTn id="26" dur="166" decel="50000">
                                          <p:stCondLst>
                                            <p:cond delay="1834"/>
                                          </p:stCondLst>
                                        </p:cTn>
                                        <p:tgtEl>
                                          <p:spTgt spid="5"/>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26"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580">
                                          <p:stCondLst>
                                            <p:cond delay="0"/>
                                          </p:stCondLst>
                                        </p:cTn>
                                        <p:tgtEl>
                                          <p:spTgt spid="7"/>
                                        </p:tgtEl>
                                      </p:cBhvr>
                                    </p:animEffect>
                                    <p:anim calcmode="lin" valueType="num">
                                      <p:cBhvr>
                                        <p:cTn id="32"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7" dur="26">
                                          <p:stCondLst>
                                            <p:cond delay="650"/>
                                          </p:stCondLst>
                                        </p:cTn>
                                        <p:tgtEl>
                                          <p:spTgt spid="7"/>
                                        </p:tgtEl>
                                      </p:cBhvr>
                                      <p:to x="100000" y="60000"/>
                                    </p:animScale>
                                    <p:animScale>
                                      <p:cBhvr>
                                        <p:cTn id="38" dur="166" decel="50000">
                                          <p:stCondLst>
                                            <p:cond delay="676"/>
                                          </p:stCondLst>
                                        </p:cTn>
                                        <p:tgtEl>
                                          <p:spTgt spid="7"/>
                                        </p:tgtEl>
                                      </p:cBhvr>
                                      <p:to x="100000" y="100000"/>
                                    </p:animScale>
                                    <p:animScale>
                                      <p:cBhvr>
                                        <p:cTn id="39" dur="26">
                                          <p:stCondLst>
                                            <p:cond delay="1312"/>
                                          </p:stCondLst>
                                        </p:cTn>
                                        <p:tgtEl>
                                          <p:spTgt spid="7"/>
                                        </p:tgtEl>
                                      </p:cBhvr>
                                      <p:to x="100000" y="80000"/>
                                    </p:animScale>
                                    <p:animScale>
                                      <p:cBhvr>
                                        <p:cTn id="40" dur="166" decel="50000">
                                          <p:stCondLst>
                                            <p:cond delay="1338"/>
                                          </p:stCondLst>
                                        </p:cTn>
                                        <p:tgtEl>
                                          <p:spTgt spid="7"/>
                                        </p:tgtEl>
                                      </p:cBhvr>
                                      <p:to x="100000" y="100000"/>
                                    </p:animScale>
                                    <p:animScale>
                                      <p:cBhvr>
                                        <p:cTn id="41" dur="26">
                                          <p:stCondLst>
                                            <p:cond delay="1642"/>
                                          </p:stCondLst>
                                        </p:cTn>
                                        <p:tgtEl>
                                          <p:spTgt spid="7"/>
                                        </p:tgtEl>
                                      </p:cBhvr>
                                      <p:to x="100000" y="90000"/>
                                    </p:animScale>
                                    <p:animScale>
                                      <p:cBhvr>
                                        <p:cTn id="42" dur="166" decel="50000">
                                          <p:stCondLst>
                                            <p:cond delay="1668"/>
                                          </p:stCondLst>
                                        </p:cTn>
                                        <p:tgtEl>
                                          <p:spTgt spid="7"/>
                                        </p:tgtEl>
                                      </p:cBhvr>
                                      <p:to x="100000" y="100000"/>
                                    </p:animScale>
                                    <p:animScale>
                                      <p:cBhvr>
                                        <p:cTn id="43" dur="26">
                                          <p:stCondLst>
                                            <p:cond delay="1808"/>
                                          </p:stCondLst>
                                        </p:cTn>
                                        <p:tgtEl>
                                          <p:spTgt spid="7"/>
                                        </p:tgtEl>
                                      </p:cBhvr>
                                      <p:to x="100000" y="95000"/>
                                    </p:animScale>
                                    <p:animScale>
                                      <p:cBhvr>
                                        <p:cTn id="44"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B209-E59E-2238-1FF2-DD0D88750780}"/>
              </a:ext>
            </a:extLst>
          </p:cNvPr>
          <p:cNvSpPr>
            <a:spLocks noGrp="1"/>
          </p:cNvSpPr>
          <p:nvPr>
            <p:ph type="title"/>
          </p:nvPr>
        </p:nvSpPr>
        <p:spPr/>
        <p:txBody>
          <a:bodyPr/>
          <a:lstStyle/>
          <a:p>
            <a:r>
              <a:rPr lang="en-US" dirty="0">
                <a:solidFill>
                  <a:schemeClr val="accent6">
                    <a:lumMod val="50000"/>
                  </a:schemeClr>
                </a:solidFill>
              </a:rPr>
              <a:t>Social Networking</a:t>
            </a:r>
            <a:endParaRPr lang="en-IN" dirty="0">
              <a:solidFill>
                <a:schemeClr val="accent6">
                  <a:lumMod val="50000"/>
                </a:schemeClr>
              </a:solidFill>
            </a:endParaRPr>
          </a:p>
        </p:txBody>
      </p:sp>
      <p:sp>
        <p:nvSpPr>
          <p:cNvPr id="3" name="TextBox 2">
            <a:extLst>
              <a:ext uri="{FF2B5EF4-FFF2-40B4-BE49-F238E27FC236}">
                <a16:creationId xmlns:a16="http://schemas.microsoft.com/office/drawing/2014/main" id="{B5105497-6193-B1D7-C1E2-3FF07940573B}"/>
              </a:ext>
            </a:extLst>
          </p:cNvPr>
          <p:cNvSpPr txBox="1"/>
          <p:nvPr/>
        </p:nvSpPr>
        <p:spPr>
          <a:xfrm>
            <a:off x="679995" y="1630755"/>
            <a:ext cx="8406581" cy="4678204"/>
          </a:xfrm>
          <a:prstGeom prst="rect">
            <a:avLst/>
          </a:prstGeom>
          <a:noFill/>
        </p:spPr>
        <p:txBody>
          <a:bodyPr wrap="square" rtlCol="0">
            <a:spAutoFit/>
          </a:bodyPr>
          <a:lstStyle/>
          <a:p>
            <a:pPr marL="457200" indent="-457200">
              <a:buFont typeface="Wingdings" panose="05000000000000000000" pitchFamily="2" charset="2"/>
              <a:buChar char="q"/>
            </a:pPr>
            <a:r>
              <a:rPr lang="en-US" sz="2800" b="1" i="1" dirty="0">
                <a:solidFill>
                  <a:schemeClr val="accent3">
                    <a:lumMod val="50000"/>
                  </a:schemeClr>
                </a:solidFill>
              </a:rPr>
              <a:t>Social networking means creating a public profile with a particular website And making relationship between other  people who are using the same website .</a:t>
            </a:r>
          </a:p>
          <a:p>
            <a:pPr marL="457200" indent="-457200">
              <a:buFont typeface="Wingdings" panose="05000000000000000000" pitchFamily="2" charset="2"/>
              <a:buChar char="q"/>
            </a:pPr>
            <a:r>
              <a:rPr lang="en-US" sz="2800" b="1" i="1" dirty="0">
                <a:solidFill>
                  <a:schemeClr val="accent3">
                    <a:lumMod val="50000"/>
                  </a:schemeClr>
                </a:solidFill>
              </a:rPr>
              <a:t>Examples of public websites are Instagram , Facebook , LinkedIn .</a:t>
            </a:r>
          </a:p>
          <a:p>
            <a:pPr marL="457200" indent="-457200">
              <a:buFont typeface="Wingdings" panose="05000000000000000000" pitchFamily="2" charset="2"/>
              <a:buChar char="q"/>
            </a:pPr>
            <a:endParaRPr lang="en-US" sz="2800" b="1" i="1" dirty="0">
              <a:solidFill>
                <a:schemeClr val="accent3">
                  <a:lumMod val="50000"/>
                </a:schemeClr>
              </a:solidFill>
            </a:endParaRPr>
          </a:p>
          <a:p>
            <a:pPr marL="457200" indent="-457200">
              <a:buFont typeface="Wingdings" panose="05000000000000000000" pitchFamily="2" charset="2"/>
              <a:buChar char="q"/>
            </a:pPr>
            <a:r>
              <a:rPr lang="en-US" sz="2800" b="1" i="1" dirty="0">
                <a:solidFill>
                  <a:schemeClr val="accent3">
                    <a:lumMod val="50000"/>
                  </a:schemeClr>
                </a:solidFill>
              </a:rPr>
              <a:t>Even though social Networking can be useful , if used within preventive measures, it’s advantage overweight the disadvantage</a:t>
            </a:r>
          </a:p>
          <a:p>
            <a:endParaRPr lang="en-IN" dirty="0"/>
          </a:p>
        </p:txBody>
      </p:sp>
      <p:pic>
        <p:nvPicPr>
          <p:cNvPr id="5" name="Picture 4">
            <a:extLst>
              <a:ext uri="{FF2B5EF4-FFF2-40B4-BE49-F238E27FC236}">
                <a16:creationId xmlns:a16="http://schemas.microsoft.com/office/drawing/2014/main" id="{E2FE7EEB-56E6-DBF5-7152-2B319C2539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63325" y="1337441"/>
            <a:ext cx="2329015" cy="2329015"/>
          </a:xfrm>
          <a:prstGeom prst="rect">
            <a:avLst/>
          </a:prstGeom>
        </p:spPr>
      </p:pic>
    </p:spTree>
    <p:extLst>
      <p:ext uri="{BB962C8B-B14F-4D97-AF65-F5344CB8AC3E}">
        <p14:creationId xmlns:p14="http://schemas.microsoft.com/office/powerpoint/2010/main" val="9436725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500" fill="hold"/>
                                        <p:tgtEl>
                                          <p:spTgt spid="5"/>
                                        </p:tgtEl>
                                        <p:attrNameLst>
                                          <p:attrName>ppt_w</p:attrName>
                                        </p:attrNameLst>
                                      </p:cBhvr>
                                      <p:tavLst>
                                        <p:tav tm="0">
                                          <p:val>
                                            <p:fltVal val="0"/>
                                          </p:val>
                                        </p:tav>
                                        <p:tav tm="100000">
                                          <p:val>
                                            <p:strVal val="#ppt_w"/>
                                          </p:val>
                                        </p:tav>
                                      </p:tavLst>
                                    </p:anim>
                                    <p:anim calcmode="lin" valueType="num">
                                      <p:cBhvr>
                                        <p:cTn id="33" dur="500" fill="hold"/>
                                        <p:tgtEl>
                                          <p:spTgt spid="5"/>
                                        </p:tgtEl>
                                        <p:attrNameLst>
                                          <p:attrName>ppt_h</p:attrName>
                                        </p:attrNameLst>
                                      </p:cBhvr>
                                      <p:tavLst>
                                        <p:tav tm="0">
                                          <p:val>
                                            <p:fltVal val="0"/>
                                          </p:val>
                                        </p:tav>
                                        <p:tav tm="100000">
                                          <p:val>
                                            <p:strVal val="#ppt_h"/>
                                          </p:val>
                                        </p:tav>
                                      </p:tavLst>
                                    </p:anim>
                                    <p:animEffect transition="in" filter="fade">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57AE-938C-A0E5-6A41-E3329B6904D4}"/>
              </a:ext>
            </a:extLst>
          </p:cNvPr>
          <p:cNvSpPr>
            <a:spLocks noGrp="1"/>
          </p:cNvSpPr>
          <p:nvPr>
            <p:ph type="title"/>
          </p:nvPr>
        </p:nvSpPr>
        <p:spPr>
          <a:xfrm>
            <a:off x="747252" y="717754"/>
            <a:ext cx="10468007" cy="894735"/>
          </a:xfrm>
        </p:spPr>
        <p:txBody>
          <a:bodyPr/>
          <a:lstStyle/>
          <a:p>
            <a:r>
              <a:rPr lang="en-US" i="1" dirty="0">
                <a:solidFill>
                  <a:schemeClr val="accent3">
                    <a:lumMod val="50000"/>
                  </a:schemeClr>
                </a:solidFill>
              </a:rPr>
              <a:t>Advantage Of Social Networking</a:t>
            </a:r>
            <a:endParaRPr lang="en-IN" i="1" dirty="0">
              <a:solidFill>
                <a:schemeClr val="accent3">
                  <a:lumMod val="50000"/>
                </a:schemeClr>
              </a:solidFill>
            </a:endParaRPr>
          </a:p>
        </p:txBody>
      </p:sp>
      <p:sp>
        <p:nvSpPr>
          <p:cNvPr id="3" name="TextBox 2">
            <a:extLst>
              <a:ext uri="{FF2B5EF4-FFF2-40B4-BE49-F238E27FC236}">
                <a16:creationId xmlns:a16="http://schemas.microsoft.com/office/drawing/2014/main" id="{24C73991-CF54-31FD-7010-EA787F130475}"/>
              </a:ext>
            </a:extLst>
          </p:cNvPr>
          <p:cNvSpPr txBox="1"/>
          <p:nvPr/>
        </p:nvSpPr>
        <p:spPr>
          <a:xfrm>
            <a:off x="1150374" y="1710813"/>
            <a:ext cx="6390968" cy="2831544"/>
          </a:xfrm>
          <a:prstGeom prst="rect">
            <a:avLst/>
          </a:prstGeom>
          <a:noFill/>
        </p:spPr>
        <p:txBody>
          <a:bodyPr wrap="square" rtlCol="0">
            <a:spAutoFit/>
          </a:bodyPr>
          <a:lstStyle/>
          <a:p>
            <a:pPr marL="685800" indent="-685800">
              <a:buFont typeface="Wingdings" panose="05000000000000000000" pitchFamily="2" charset="2"/>
              <a:buChar char="v"/>
            </a:pPr>
            <a:r>
              <a:rPr lang="en-US" sz="4000" b="1" i="1" dirty="0">
                <a:solidFill>
                  <a:schemeClr val="accent3">
                    <a:lumMod val="50000"/>
                  </a:schemeClr>
                </a:solidFill>
              </a:rPr>
              <a:t>Worldwide connectivity</a:t>
            </a:r>
          </a:p>
          <a:p>
            <a:pPr marL="685800" indent="-685800">
              <a:buFont typeface="Wingdings" panose="05000000000000000000" pitchFamily="2" charset="2"/>
              <a:buChar char="v"/>
            </a:pPr>
            <a:r>
              <a:rPr lang="en-US" sz="4000" b="1" i="1" dirty="0">
                <a:solidFill>
                  <a:schemeClr val="accent3">
                    <a:lumMod val="50000"/>
                  </a:schemeClr>
                </a:solidFill>
              </a:rPr>
              <a:t>Real-Time Information shearing</a:t>
            </a:r>
          </a:p>
          <a:p>
            <a:pPr marL="685800" indent="-685800">
              <a:buFont typeface="Wingdings" panose="05000000000000000000" pitchFamily="2" charset="2"/>
              <a:buChar char="v"/>
            </a:pPr>
            <a:r>
              <a:rPr lang="en-IN" sz="4000" b="1" i="1" dirty="0">
                <a:solidFill>
                  <a:schemeClr val="accent3">
                    <a:lumMod val="50000"/>
                  </a:schemeClr>
                </a:solidFill>
              </a:rPr>
              <a:t>Free Advertising</a:t>
            </a:r>
          </a:p>
          <a:p>
            <a:endParaRPr lang="en-IN" dirty="0"/>
          </a:p>
        </p:txBody>
      </p:sp>
      <p:pic>
        <p:nvPicPr>
          <p:cNvPr id="5" name="Picture 4">
            <a:extLst>
              <a:ext uri="{FF2B5EF4-FFF2-40B4-BE49-F238E27FC236}">
                <a16:creationId xmlns:a16="http://schemas.microsoft.com/office/drawing/2014/main" id="{856ED16B-083F-BB38-8C03-83407CC605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953" y="2121160"/>
            <a:ext cx="4485510" cy="3758932"/>
          </a:xfrm>
          <a:prstGeom prst="rect">
            <a:avLst/>
          </a:prstGeom>
        </p:spPr>
      </p:pic>
    </p:spTree>
    <p:extLst>
      <p:ext uri="{BB962C8B-B14F-4D97-AF65-F5344CB8AC3E}">
        <p14:creationId xmlns:p14="http://schemas.microsoft.com/office/powerpoint/2010/main" val="3924175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heel(1)">
                                      <p:cBhvr>
                                        <p:cTn id="19"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EC63-CA25-4A29-0AAB-2B529E3CCCB2}"/>
              </a:ext>
            </a:extLst>
          </p:cNvPr>
          <p:cNvSpPr>
            <a:spLocks noGrp="1"/>
          </p:cNvSpPr>
          <p:nvPr>
            <p:ph type="title"/>
          </p:nvPr>
        </p:nvSpPr>
        <p:spPr>
          <a:xfrm>
            <a:off x="580103" y="262555"/>
            <a:ext cx="10515600" cy="1145944"/>
          </a:xfrm>
        </p:spPr>
        <p:txBody>
          <a:bodyPr/>
          <a:lstStyle/>
          <a:p>
            <a:r>
              <a:rPr lang="en-US" i="1" dirty="0">
                <a:solidFill>
                  <a:schemeClr val="accent4">
                    <a:lumMod val="50000"/>
                  </a:schemeClr>
                </a:solidFill>
              </a:rPr>
              <a:t>Worldwide connectivity</a:t>
            </a:r>
            <a:endParaRPr lang="en-IN" i="1" dirty="0">
              <a:solidFill>
                <a:schemeClr val="accent4">
                  <a:lumMod val="50000"/>
                </a:schemeClr>
              </a:solidFill>
            </a:endParaRPr>
          </a:p>
        </p:txBody>
      </p:sp>
      <p:sp>
        <p:nvSpPr>
          <p:cNvPr id="3" name="TextBox 2">
            <a:extLst>
              <a:ext uri="{FF2B5EF4-FFF2-40B4-BE49-F238E27FC236}">
                <a16:creationId xmlns:a16="http://schemas.microsoft.com/office/drawing/2014/main" id="{515BF551-7DC7-78E2-EC54-50BFBDF60D62}"/>
              </a:ext>
            </a:extLst>
          </p:cNvPr>
          <p:cNvSpPr txBox="1"/>
          <p:nvPr/>
        </p:nvSpPr>
        <p:spPr>
          <a:xfrm>
            <a:off x="127612" y="1694985"/>
            <a:ext cx="7796980" cy="3970318"/>
          </a:xfrm>
          <a:prstGeom prst="rect">
            <a:avLst/>
          </a:prstGeom>
          <a:noFill/>
        </p:spPr>
        <p:txBody>
          <a:bodyPr wrap="square" rtlCol="0">
            <a:spAutoFit/>
          </a:bodyPr>
          <a:lstStyle/>
          <a:p>
            <a:pPr marL="457200" indent="-457200">
              <a:buFont typeface="Wingdings" panose="05000000000000000000" pitchFamily="2" charset="2"/>
              <a:buChar char="Ø"/>
            </a:pPr>
            <a:r>
              <a:rPr lang="en-US" sz="2800" b="1" i="1" dirty="0"/>
              <a:t>It is easier and faster to make new friends or business connections or extend their personal base.</a:t>
            </a:r>
          </a:p>
          <a:p>
            <a:pPr marL="457200" indent="-457200">
              <a:buFont typeface="Wingdings" panose="05000000000000000000" pitchFamily="2" charset="2"/>
              <a:buChar char="Ø"/>
            </a:pPr>
            <a:r>
              <a:rPr lang="en-US" sz="2800" b="1" i="1" dirty="0"/>
              <a:t>There are new websites dedicated to allowing people to connect and to interact via the internet .</a:t>
            </a:r>
          </a:p>
          <a:p>
            <a:pPr marL="457200" indent="-457200">
              <a:buFont typeface="Wingdings" panose="05000000000000000000" pitchFamily="2" charset="2"/>
              <a:buChar char="Ø"/>
            </a:pPr>
            <a:r>
              <a:rPr lang="en-IN" sz="2800" b="1" i="1" dirty="0"/>
              <a:t>These connections can help one with a variety of things such as seeking job , getting product and service , etc.</a:t>
            </a:r>
          </a:p>
        </p:txBody>
      </p:sp>
      <p:pic>
        <p:nvPicPr>
          <p:cNvPr id="7" name="Picture 6">
            <a:extLst>
              <a:ext uri="{FF2B5EF4-FFF2-40B4-BE49-F238E27FC236}">
                <a16:creationId xmlns:a16="http://schemas.microsoft.com/office/drawing/2014/main" id="{99EF55E4-A1ED-17C0-5455-FC21EF2ABC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9780" y="1122013"/>
            <a:ext cx="3692117" cy="2342768"/>
          </a:xfrm>
          <a:prstGeom prst="rect">
            <a:avLst/>
          </a:prstGeom>
        </p:spPr>
      </p:pic>
    </p:spTree>
    <p:extLst>
      <p:ext uri="{BB962C8B-B14F-4D97-AF65-F5344CB8AC3E}">
        <p14:creationId xmlns:p14="http://schemas.microsoft.com/office/powerpoint/2010/main" val="42724694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heel(1)">
                                      <p:cBhvr>
                                        <p:cTn id="18"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FDF2B-43A2-7164-986D-30BC5BA25E5B}"/>
              </a:ext>
            </a:extLst>
          </p:cNvPr>
          <p:cNvSpPr>
            <a:spLocks noGrp="1"/>
          </p:cNvSpPr>
          <p:nvPr>
            <p:ph type="title"/>
          </p:nvPr>
        </p:nvSpPr>
        <p:spPr>
          <a:xfrm>
            <a:off x="748821" y="431054"/>
            <a:ext cx="10515600" cy="1145944"/>
          </a:xfrm>
        </p:spPr>
        <p:txBody>
          <a:bodyPr>
            <a:normAutofit/>
          </a:bodyPr>
          <a:lstStyle/>
          <a:p>
            <a:r>
              <a:rPr lang="en-US" sz="4000" dirty="0">
                <a:solidFill>
                  <a:schemeClr val="accent5">
                    <a:lumMod val="50000"/>
                  </a:schemeClr>
                </a:solidFill>
              </a:rPr>
              <a:t>Real-Time Information sharing</a:t>
            </a:r>
            <a:endParaRPr lang="en-IN" sz="4000" dirty="0">
              <a:solidFill>
                <a:schemeClr val="accent5">
                  <a:lumMod val="50000"/>
                </a:schemeClr>
              </a:solidFill>
            </a:endParaRPr>
          </a:p>
        </p:txBody>
      </p:sp>
      <p:sp>
        <p:nvSpPr>
          <p:cNvPr id="3" name="TextBox 2">
            <a:extLst>
              <a:ext uri="{FF2B5EF4-FFF2-40B4-BE49-F238E27FC236}">
                <a16:creationId xmlns:a16="http://schemas.microsoft.com/office/drawing/2014/main" id="{5554772F-922E-9723-92AD-1DA3C0F36633}"/>
              </a:ext>
            </a:extLst>
          </p:cNvPr>
          <p:cNvSpPr txBox="1"/>
          <p:nvPr/>
        </p:nvSpPr>
        <p:spPr>
          <a:xfrm>
            <a:off x="589937" y="1366897"/>
            <a:ext cx="9665109" cy="2554545"/>
          </a:xfrm>
          <a:prstGeom prst="rect">
            <a:avLst/>
          </a:prstGeom>
          <a:noFill/>
        </p:spPr>
        <p:txBody>
          <a:bodyPr wrap="square" rtlCol="0">
            <a:spAutoFit/>
          </a:bodyPr>
          <a:lstStyle/>
          <a:p>
            <a:pPr marL="457200" indent="-457200">
              <a:buFont typeface="Wingdings" panose="05000000000000000000" pitchFamily="2" charset="2"/>
              <a:buChar char="Ø"/>
            </a:pPr>
            <a:r>
              <a:rPr lang="en-US" sz="3200" b="1" i="1" dirty="0"/>
              <a:t>With social networking site , you exchange information easily in real-time via a chat  .</a:t>
            </a:r>
          </a:p>
          <a:p>
            <a:pPr marL="457200" indent="-457200">
              <a:buFont typeface="Wingdings" panose="05000000000000000000" pitchFamily="2" charset="2"/>
              <a:buChar char="Ø"/>
            </a:pPr>
            <a:endParaRPr lang="en-US" sz="3200" b="1" i="1" dirty="0"/>
          </a:p>
          <a:p>
            <a:pPr marL="457200" indent="-457200">
              <a:buFont typeface="Wingdings" panose="05000000000000000000" pitchFamily="2" charset="2"/>
              <a:buChar char="Ø"/>
            </a:pPr>
            <a:r>
              <a:rPr lang="en-US" sz="3200" b="1" i="1" dirty="0"/>
              <a:t>In addition , the internet is the ultimate online textboo</a:t>
            </a:r>
            <a:r>
              <a:rPr lang="en-US" b="1" i="1" dirty="0"/>
              <a:t>k</a:t>
            </a:r>
            <a:r>
              <a:rPr lang="en-US" dirty="0"/>
              <a:t>.</a:t>
            </a:r>
            <a:endParaRPr lang="en-IN" dirty="0"/>
          </a:p>
        </p:txBody>
      </p:sp>
      <p:pic>
        <p:nvPicPr>
          <p:cNvPr id="7" name="Picture 6">
            <a:extLst>
              <a:ext uri="{FF2B5EF4-FFF2-40B4-BE49-F238E27FC236}">
                <a16:creationId xmlns:a16="http://schemas.microsoft.com/office/drawing/2014/main" id="{6F2F710F-F559-542F-389C-77D1F45DB1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3509" y="3429000"/>
            <a:ext cx="4306529" cy="3229897"/>
          </a:xfrm>
          <a:prstGeom prst="rect">
            <a:avLst/>
          </a:prstGeom>
        </p:spPr>
      </p:pic>
    </p:spTree>
    <p:extLst>
      <p:ext uri="{BB962C8B-B14F-4D97-AF65-F5344CB8AC3E}">
        <p14:creationId xmlns:p14="http://schemas.microsoft.com/office/powerpoint/2010/main" val="22876689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50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circle(in)">
                                      <p:cBhvr>
                                        <p:cTn id="13" dur="2000"/>
                                        <p:tgtEl>
                                          <p:spTgt spid="3">
                                            <p:txEl>
                                              <p:pRg st="0" end="0"/>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circle(in)">
                                      <p:cBhvr>
                                        <p:cTn id="16" dur="20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0" presetClass="path" presetSubtype="0" accel="50000" decel="50000" fill="hold" nodeType="clickEffect">
                                  <p:stCondLst>
                                    <p:cond delay="0"/>
                                  </p:stCondLst>
                                  <p:childTnLst>
                                    <p:animMotion origin="layout" path="M 0 0 L 0.125 0 C 0.181 0 0.25 0.069 0.25 0.125 L 0.25 0.25 E" pathEditMode="relative" ptsTypes="">
                                      <p:cBhvr>
                                        <p:cTn id="20" dur="2000" fill="hold"/>
                                        <p:tgtEl>
                                          <p:spTgt spid="7"/>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45" presetClass="exit" presetSubtype="0" fill="hold" nodeType="clickEffect">
                                  <p:stCondLst>
                                    <p:cond delay="0"/>
                                  </p:stCondLst>
                                  <p:childTnLst>
                                    <p:animEffect transition="out" filter="fade">
                                      <p:cBhvr>
                                        <p:cTn id="24" dur="2000"/>
                                        <p:tgtEl>
                                          <p:spTgt spid="7"/>
                                        </p:tgtEl>
                                      </p:cBhvr>
                                    </p:animEffect>
                                    <p:anim calcmode="lin" valueType="num">
                                      <p:cBhvr>
                                        <p:cTn id="25" dur="2000"/>
                                        <p:tgtEl>
                                          <p:spTgt spid="7"/>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6" dur="2000"/>
                                        <p:tgtEl>
                                          <p:spTgt spid="7"/>
                                        </p:tgtEl>
                                        <p:attrNameLst>
                                          <p:attrName>ppt_h</p:attrName>
                                        </p:attrNameLst>
                                      </p:cBhvr>
                                      <p:tavLst>
                                        <p:tav tm="0">
                                          <p:val>
                                            <p:strVal val="ppt_h"/>
                                          </p:val>
                                        </p:tav>
                                        <p:tav tm="100000">
                                          <p:val>
                                            <p:strVal val="ppt_h"/>
                                          </p:val>
                                        </p:tav>
                                      </p:tavLst>
                                    </p:anim>
                                    <p:set>
                                      <p:cBhvr>
                                        <p:cTn id="27" dur="1" fill="hold">
                                          <p:stCondLst>
                                            <p:cond delay="1999"/>
                                          </p:stCondLst>
                                        </p:cTn>
                                        <p:tgtEl>
                                          <p:spTgt spid="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8" presetClass="emph" presetSubtype="0" fill="hold" nodeType="clickEffect">
                                  <p:stCondLst>
                                    <p:cond delay="0"/>
                                  </p:stCondLst>
                                  <p:childTnLst>
                                    <p:animRot by="21600000">
                                      <p:cBhvr>
                                        <p:cTn id="31" dur="2000" fill="hold"/>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60DDE-8951-055F-5A66-62F062E486F6}"/>
              </a:ext>
            </a:extLst>
          </p:cNvPr>
          <p:cNvSpPr>
            <a:spLocks noGrp="1"/>
          </p:cNvSpPr>
          <p:nvPr>
            <p:ph type="title"/>
          </p:nvPr>
        </p:nvSpPr>
        <p:spPr>
          <a:xfrm>
            <a:off x="286706" y="421222"/>
            <a:ext cx="10515600" cy="1145944"/>
          </a:xfrm>
        </p:spPr>
        <p:txBody>
          <a:bodyPr/>
          <a:lstStyle/>
          <a:p>
            <a:r>
              <a:rPr lang="en-US" dirty="0">
                <a:solidFill>
                  <a:schemeClr val="accent3">
                    <a:lumMod val="50000"/>
                  </a:schemeClr>
                </a:solidFill>
              </a:rPr>
              <a:t>Free Advertising</a:t>
            </a:r>
            <a:endParaRPr lang="en-IN" dirty="0">
              <a:solidFill>
                <a:schemeClr val="accent3">
                  <a:lumMod val="50000"/>
                </a:schemeClr>
              </a:solidFill>
            </a:endParaRPr>
          </a:p>
        </p:txBody>
      </p:sp>
      <p:sp>
        <p:nvSpPr>
          <p:cNvPr id="3" name="TextBox 2">
            <a:extLst>
              <a:ext uri="{FF2B5EF4-FFF2-40B4-BE49-F238E27FC236}">
                <a16:creationId xmlns:a16="http://schemas.microsoft.com/office/drawing/2014/main" id="{FD57A670-4595-2DA3-2D4D-C69FA6BAE058}"/>
              </a:ext>
            </a:extLst>
          </p:cNvPr>
          <p:cNvSpPr txBox="1"/>
          <p:nvPr/>
        </p:nvSpPr>
        <p:spPr>
          <a:xfrm>
            <a:off x="452284" y="1248697"/>
            <a:ext cx="7030064" cy="4247317"/>
          </a:xfrm>
          <a:prstGeom prst="rect">
            <a:avLst/>
          </a:prstGeom>
          <a:noFill/>
        </p:spPr>
        <p:txBody>
          <a:bodyPr wrap="square" rtlCol="0">
            <a:spAutoFit/>
          </a:bodyPr>
          <a:lstStyle/>
          <a:p>
            <a:pPr marL="457200" lvl="0" indent="-457200">
              <a:buFont typeface="Wingdings" panose="05000000000000000000" pitchFamily="2" charset="2"/>
              <a:buChar char="Ø"/>
            </a:pPr>
            <a:r>
              <a:rPr lang="en-IN" sz="2800" b="1" i="1" dirty="0"/>
              <a:t>Online Directories: Claim listings on Google Business Profile, Yelp, and Bing Places to boost local visibility.</a:t>
            </a:r>
          </a:p>
          <a:p>
            <a:pPr marL="457200" lvl="0" indent="-457200">
              <a:buFont typeface="Wingdings" panose="05000000000000000000" pitchFamily="2" charset="2"/>
              <a:buChar char="Ø"/>
            </a:pPr>
            <a:r>
              <a:rPr lang="en-IN" sz="2800" b="1" i="1" dirty="0"/>
              <a:t>Social Media: Publish regular posts, reels, and stories on Instagram, Facebook, and LinkedIn.</a:t>
            </a:r>
          </a:p>
          <a:p>
            <a:pPr marL="457200" lvl="0" indent="-457200">
              <a:buFont typeface="Wingdings" panose="05000000000000000000" pitchFamily="2" charset="2"/>
              <a:buChar char="Ø"/>
            </a:pPr>
            <a:r>
              <a:rPr lang="en-IN" sz="2800" b="1" i="1" dirty="0"/>
              <a:t>Content Search: Create educational videos on YouTube targeting specific questions people search for online. </a:t>
            </a:r>
          </a:p>
          <a:p>
            <a:endParaRPr lang="en-IN" dirty="0"/>
          </a:p>
        </p:txBody>
      </p:sp>
      <p:pic>
        <p:nvPicPr>
          <p:cNvPr id="5" name="Picture 4">
            <a:extLst>
              <a:ext uri="{FF2B5EF4-FFF2-40B4-BE49-F238E27FC236}">
                <a16:creationId xmlns:a16="http://schemas.microsoft.com/office/drawing/2014/main" id="{5F1CB3CB-531B-0DC8-1765-A5B16B30D4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2349" y="1071716"/>
            <a:ext cx="4123744" cy="4123744"/>
          </a:xfrm>
          <a:prstGeom prst="rect">
            <a:avLst/>
          </a:prstGeom>
        </p:spPr>
      </p:pic>
    </p:spTree>
    <p:extLst>
      <p:ext uri="{BB962C8B-B14F-4D97-AF65-F5344CB8AC3E}">
        <p14:creationId xmlns:p14="http://schemas.microsoft.com/office/powerpoint/2010/main" val="14384542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heel(1)">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7" presetClass="emph" presetSubtype="2" fill="hold" nodeType="clickEffect">
                                  <p:stCondLst>
                                    <p:cond delay="0"/>
                                  </p:stCondLst>
                                  <p:childTnLst>
                                    <p:animClr clrSpc="rgb" dir="cw">
                                      <p:cBhvr>
                                        <p:cTn id="18" dur="2000" fill="hold"/>
                                        <p:tgtEl>
                                          <p:spTgt spid="5"/>
                                        </p:tgtEl>
                                        <p:attrNameLst>
                                          <p:attrName>stroke.color</p:attrName>
                                        </p:attrNameLst>
                                      </p:cBhvr>
                                      <p:to>
                                        <a:schemeClr val="accent2"/>
                                      </p:to>
                                    </p:animClr>
                                    <p:set>
                                      <p:cBhvr>
                                        <p:cTn id="19" dur="2000" fill="hold"/>
                                        <p:tgtEl>
                                          <p:spTgt spid="5"/>
                                        </p:tgtEl>
                                        <p:attrNameLst>
                                          <p:attrName>stroke.on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ppt_x"/>
                                          </p:val>
                                        </p:tav>
                                        <p:tav tm="100000">
                                          <p:val>
                                            <p:strVal val="#ppt_x"/>
                                          </p:val>
                                        </p:tav>
                                      </p:tavLst>
                                    </p:anim>
                                    <p:anim calcmode="lin" valueType="num">
                                      <p:cBhvr additive="base">
                                        <p:cTn id="2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7CF4-8BFC-DD46-CF26-0023E31759E5}"/>
              </a:ext>
            </a:extLst>
          </p:cNvPr>
          <p:cNvSpPr>
            <a:spLocks noGrp="1"/>
          </p:cNvSpPr>
          <p:nvPr>
            <p:ph type="title"/>
          </p:nvPr>
        </p:nvSpPr>
        <p:spPr>
          <a:xfrm>
            <a:off x="699660" y="387888"/>
            <a:ext cx="10515600" cy="1145944"/>
          </a:xfrm>
        </p:spPr>
        <p:txBody>
          <a:bodyPr/>
          <a:lstStyle/>
          <a:p>
            <a:r>
              <a:rPr lang="en-US" dirty="0">
                <a:solidFill>
                  <a:schemeClr val="accent5">
                    <a:lumMod val="50000"/>
                  </a:schemeClr>
                </a:solidFill>
              </a:rPr>
              <a:t>Disadvantage Of Social Media</a:t>
            </a:r>
            <a:endParaRPr lang="en-IN" dirty="0">
              <a:solidFill>
                <a:schemeClr val="accent5">
                  <a:lumMod val="50000"/>
                </a:schemeClr>
              </a:solidFill>
            </a:endParaRPr>
          </a:p>
        </p:txBody>
      </p:sp>
      <p:sp>
        <p:nvSpPr>
          <p:cNvPr id="3" name="TextBox 2">
            <a:extLst>
              <a:ext uri="{FF2B5EF4-FFF2-40B4-BE49-F238E27FC236}">
                <a16:creationId xmlns:a16="http://schemas.microsoft.com/office/drawing/2014/main" id="{0FFD8A1D-1903-E533-2090-C13818B1B9F0}"/>
              </a:ext>
            </a:extLst>
          </p:cNvPr>
          <p:cNvSpPr txBox="1"/>
          <p:nvPr/>
        </p:nvSpPr>
        <p:spPr>
          <a:xfrm>
            <a:off x="776748" y="1533832"/>
            <a:ext cx="9547123" cy="2554545"/>
          </a:xfrm>
          <a:prstGeom prst="rect">
            <a:avLst/>
          </a:prstGeom>
          <a:noFill/>
        </p:spPr>
        <p:txBody>
          <a:bodyPr wrap="square" rtlCol="0">
            <a:spAutoFit/>
          </a:bodyPr>
          <a:lstStyle/>
          <a:p>
            <a:pPr marL="571500" indent="-571500" algn="just">
              <a:buFont typeface="Wingdings" panose="05000000000000000000" pitchFamily="2" charset="2"/>
              <a:buChar char="v"/>
            </a:pPr>
            <a:r>
              <a:rPr lang="en-US" sz="4000" b="1" i="1" dirty="0"/>
              <a:t>Cyber Bullying</a:t>
            </a:r>
          </a:p>
          <a:p>
            <a:pPr marL="571500" indent="-571500" algn="just">
              <a:buFont typeface="Wingdings" panose="05000000000000000000" pitchFamily="2" charset="2"/>
              <a:buChar char="v"/>
            </a:pPr>
            <a:r>
              <a:rPr lang="en-US" sz="4000" b="1" i="1" dirty="0"/>
              <a:t>Higher risk of fraud and identity</a:t>
            </a:r>
          </a:p>
          <a:p>
            <a:pPr marL="571500" indent="-571500" algn="just">
              <a:buFont typeface="Wingdings" panose="05000000000000000000" pitchFamily="2" charset="2"/>
              <a:buChar char="v"/>
            </a:pPr>
            <a:r>
              <a:rPr lang="en-IN" sz="4000" b="1" i="1" dirty="0"/>
              <a:t>Privacy issues</a:t>
            </a:r>
          </a:p>
          <a:p>
            <a:pPr marL="571500" indent="-571500" algn="just">
              <a:buFont typeface="Wingdings" panose="05000000000000000000" pitchFamily="2" charset="2"/>
              <a:buChar char="v"/>
            </a:pPr>
            <a:r>
              <a:rPr lang="en-IN" sz="4000" b="1" i="1" dirty="0"/>
              <a:t>Others disadvantage</a:t>
            </a:r>
          </a:p>
        </p:txBody>
      </p:sp>
    </p:spTree>
    <p:extLst>
      <p:ext uri="{BB962C8B-B14F-4D97-AF65-F5344CB8AC3E}">
        <p14:creationId xmlns:p14="http://schemas.microsoft.com/office/powerpoint/2010/main" val="1735062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1FE5C-C599-B9F8-79AA-627BA9DBA804}"/>
              </a:ext>
            </a:extLst>
          </p:cNvPr>
          <p:cNvSpPr>
            <a:spLocks noGrp="1"/>
          </p:cNvSpPr>
          <p:nvPr>
            <p:ph type="title"/>
          </p:nvPr>
        </p:nvSpPr>
        <p:spPr/>
        <p:txBody>
          <a:bodyPr/>
          <a:lstStyle/>
          <a:p>
            <a:r>
              <a:rPr lang="en-US" dirty="0">
                <a:solidFill>
                  <a:schemeClr val="accent6">
                    <a:lumMod val="50000"/>
                  </a:schemeClr>
                </a:solidFill>
              </a:rPr>
              <a:t>Cyber Bullying</a:t>
            </a:r>
            <a:endParaRPr lang="en-IN" dirty="0">
              <a:solidFill>
                <a:schemeClr val="accent6">
                  <a:lumMod val="50000"/>
                </a:schemeClr>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9054" y="2976665"/>
            <a:ext cx="3918923" cy="2120630"/>
          </a:xfrm>
          <a:prstGeom prst="rect">
            <a:avLst/>
          </a:prstGeom>
        </p:spPr>
      </p:pic>
      <p:sp>
        <p:nvSpPr>
          <p:cNvPr id="5" name="TextBox 4"/>
          <p:cNvSpPr txBox="1"/>
          <p:nvPr/>
        </p:nvSpPr>
        <p:spPr>
          <a:xfrm>
            <a:off x="350196" y="1313234"/>
            <a:ext cx="7830766" cy="4647426"/>
          </a:xfrm>
          <a:prstGeom prst="rect">
            <a:avLst/>
          </a:prstGeom>
          <a:noFill/>
        </p:spPr>
        <p:txBody>
          <a:bodyPr wrap="square" rtlCol="0">
            <a:spAutoFit/>
          </a:bodyPr>
          <a:lstStyle/>
          <a:p>
            <a:pPr marL="342900" indent="-342900">
              <a:buFont typeface="Wingdings" pitchFamily="2" charset="2"/>
              <a:buChar char="Ø"/>
            </a:pPr>
            <a:r>
              <a:rPr lang="en-US" sz="2000" b="1" i="1" dirty="0"/>
              <a:t>CyberBullying is the use of digital technologies to harass, intimidate, or harm others, often repeatedly and intentionally .</a:t>
            </a:r>
          </a:p>
          <a:p>
            <a:pPr marL="342900" indent="-342900">
              <a:buFont typeface="Wingdings" pitchFamily="2" charset="2"/>
              <a:buChar char="Ø"/>
            </a:pPr>
            <a:endParaRPr lang="en-US" sz="2000" b="1" i="1" dirty="0"/>
          </a:p>
          <a:p>
            <a:pPr marL="342900" indent="-342900">
              <a:buFont typeface="Wingdings" pitchFamily="2" charset="2"/>
              <a:buChar char="Ø"/>
            </a:pPr>
            <a:r>
              <a:rPr lang="en-US" sz="2000" b="1" i="1" dirty="0"/>
              <a:t>Harassment: Sending threatening or insulting messages repeatedly.</a:t>
            </a:r>
          </a:p>
          <a:p>
            <a:pPr marL="342900" indent="-342900">
              <a:buFont typeface="Wingdings" pitchFamily="2" charset="2"/>
              <a:buChar char="Ø"/>
            </a:pPr>
            <a:r>
              <a:rPr lang="en-US" sz="2000" b="1" i="1" dirty="0"/>
              <a:t>Impersonation: Creating fake accounts to harm or embarrass someone.</a:t>
            </a:r>
          </a:p>
          <a:p>
            <a:pPr marL="342900" indent="-342900">
              <a:buFont typeface="Wingdings" pitchFamily="2" charset="2"/>
              <a:buChar char="Ø"/>
            </a:pPr>
            <a:r>
              <a:rPr lang="en-US" sz="2000" b="1" i="1" dirty="0"/>
              <a:t>Outing or Tricking: Sharing private information or photos without consent.</a:t>
            </a:r>
          </a:p>
          <a:p>
            <a:pPr marL="342900" indent="-342900">
              <a:buFont typeface="Wingdings" pitchFamily="2" charset="2"/>
              <a:buChar char="Ø"/>
            </a:pPr>
            <a:r>
              <a:rPr lang="en-US" sz="2000" b="1" i="1" dirty="0"/>
              <a:t>Exclusion: Deliberately leaving someone out of online groups or activities.</a:t>
            </a:r>
          </a:p>
          <a:p>
            <a:pPr marL="342900" indent="-342900">
              <a:buFont typeface="Wingdings" pitchFamily="2" charset="2"/>
              <a:buChar char="Ø"/>
            </a:pPr>
            <a:r>
              <a:rPr lang="en-US" sz="2000" b="1" i="1" dirty="0"/>
              <a:t>Spreading Rumors: Posting false or harmful information about a person online</a:t>
            </a:r>
            <a:r>
              <a:rPr lang="en-US" sz="2000" dirty="0"/>
              <a:t>.</a:t>
            </a:r>
          </a:p>
          <a:p>
            <a:endParaRPr lang="en-US" b="1" dirty="0"/>
          </a:p>
          <a:p>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45385" y="211613"/>
            <a:ext cx="3518169" cy="2638627"/>
          </a:xfrm>
          <a:prstGeom prst="rect">
            <a:avLst/>
          </a:prstGeom>
        </p:spPr>
      </p:pic>
    </p:spTree>
    <p:extLst>
      <p:ext uri="{BB962C8B-B14F-4D97-AF65-F5344CB8AC3E}">
        <p14:creationId xmlns:p14="http://schemas.microsoft.com/office/powerpoint/2010/main" val="41214770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randombar(horizont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80">
                                          <p:stCondLst>
                                            <p:cond delay="0"/>
                                          </p:stCondLst>
                                        </p:cTn>
                                        <p:tgtEl>
                                          <p:spTgt spid="6"/>
                                        </p:tgtEl>
                                      </p:cBhvr>
                                    </p:animEffect>
                                    <p:anim calcmode="lin" valueType="num">
                                      <p:cBhvr>
                                        <p:cTn id="31"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6" dur="26">
                                          <p:stCondLst>
                                            <p:cond delay="650"/>
                                          </p:stCondLst>
                                        </p:cTn>
                                        <p:tgtEl>
                                          <p:spTgt spid="6"/>
                                        </p:tgtEl>
                                      </p:cBhvr>
                                      <p:to x="100000" y="60000"/>
                                    </p:animScale>
                                    <p:animScale>
                                      <p:cBhvr>
                                        <p:cTn id="37" dur="166" decel="50000">
                                          <p:stCondLst>
                                            <p:cond delay="676"/>
                                          </p:stCondLst>
                                        </p:cTn>
                                        <p:tgtEl>
                                          <p:spTgt spid="6"/>
                                        </p:tgtEl>
                                      </p:cBhvr>
                                      <p:to x="100000" y="100000"/>
                                    </p:animScale>
                                    <p:animScale>
                                      <p:cBhvr>
                                        <p:cTn id="38" dur="26">
                                          <p:stCondLst>
                                            <p:cond delay="1312"/>
                                          </p:stCondLst>
                                        </p:cTn>
                                        <p:tgtEl>
                                          <p:spTgt spid="6"/>
                                        </p:tgtEl>
                                      </p:cBhvr>
                                      <p:to x="100000" y="80000"/>
                                    </p:animScale>
                                    <p:animScale>
                                      <p:cBhvr>
                                        <p:cTn id="39" dur="166" decel="50000">
                                          <p:stCondLst>
                                            <p:cond delay="1338"/>
                                          </p:stCondLst>
                                        </p:cTn>
                                        <p:tgtEl>
                                          <p:spTgt spid="6"/>
                                        </p:tgtEl>
                                      </p:cBhvr>
                                      <p:to x="100000" y="100000"/>
                                    </p:animScale>
                                    <p:animScale>
                                      <p:cBhvr>
                                        <p:cTn id="40" dur="26">
                                          <p:stCondLst>
                                            <p:cond delay="1642"/>
                                          </p:stCondLst>
                                        </p:cTn>
                                        <p:tgtEl>
                                          <p:spTgt spid="6"/>
                                        </p:tgtEl>
                                      </p:cBhvr>
                                      <p:to x="100000" y="90000"/>
                                    </p:animScale>
                                    <p:animScale>
                                      <p:cBhvr>
                                        <p:cTn id="41" dur="166" decel="50000">
                                          <p:stCondLst>
                                            <p:cond delay="1668"/>
                                          </p:stCondLst>
                                        </p:cTn>
                                        <p:tgtEl>
                                          <p:spTgt spid="6"/>
                                        </p:tgtEl>
                                      </p:cBhvr>
                                      <p:to x="100000" y="100000"/>
                                    </p:animScale>
                                    <p:animScale>
                                      <p:cBhvr>
                                        <p:cTn id="42" dur="26">
                                          <p:stCondLst>
                                            <p:cond delay="1808"/>
                                          </p:stCondLst>
                                        </p:cTn>
                                        <p:tgtEl>
                                          <p:spTgt spid="6"/>
                                        </p:tgtEl>
                                      </p:cBhvr>
                                      <p:to x="100000" y="95000"/>
                                    </p:animScale>
                                    <p:animScale>
                                      <p:cBhvr>
                                        <p:cTn id="43" dur="166" decel="50000">
                                          <p:stCondLst>
                                            <p:cond delay="1834"/>
                                          </p:stCondLst>
                                        </p:cTn>
                                        <p:tgtEl>
                                          <p:spTgt spid="6"/>
                                        </p:tgtEl>
                                      </p:cBhvr>
                                      <p:to x="100000" y="100000"/>
                                    </p:animScale>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 calcmode="lin" valueType="num">
                                      <p:cBhvr additive="base">
                                        <p:cTn id="48" dur="500" fill="hold"/>
                                        <p:tgtEl>
                                          <p:spTgt spid="3"/>
                                        </p:tgtEl>
                                        <p:attrNameLst>
                                          <p:attrName>ppt_x</p:attrName>
                                        </p:attrNameLst>
                                      </p:cBhvr>
                                      <p:tavLst>
                                        <p:tav tm="0">
                                          <p:val>
                                            <p:strVal val="#ppt_x"/>
                                          </p:val>
                                        </p:tav>
                                        <p:tav tm="100000">
                                          <p:val>
                                            <p:strVal val="#ppt_x"/>
                                          </p:val>
                                        </p:tav>
                                      </p:tavLst>
                                    </p:anim>
                                    <p:anim calcmode="lin" valueType="num">
                                      <p:cBhvr additive="base">
                                        <p:cTn id="4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solidFill>
                  <a:schemeClr val="accent6">
                    <a:lumMod val="50000"/>
                  </a:schemeClr>
                </a:solidFill>
              </a:rPr>
              <a:t>Higher risk of fraud and identity</a:t>
            </a:r>
            <a:br>
              <a:rPr lang="en-US" i="1" dirty="0"/>
            </a:br>
            <a:endParaRPr lang="en-US" dirty="0"/>
          </a:p>
        </p:txBody>
      </p:sp>
      <p:sp>
        <p:nvSpPr>
          <p:cNvPr id="4" name="TextBox 3"/>
          <p:cNvSpPr txBox="1"/>
          <p:nvPr/>
        </p:nvSpPr>
        <p:spPr>
          <a:xfrm>
            <a:off x="680937" y="1643975"/>
            <a:ext cx="10340502" cy="2023353"/>
          </a:xfrm>
          <a:prstGeom prst="rect">
            <a:avLst/>
          </a:prstGeom>
          <a:noFill/>
        </p:spPr>
        <p:txBody>
          <a:bodyPr wrap="square" rtlCol="0">
            <a:spAutoFit/>
          </a:bodyPr>
          <a:lstStyle/>
          <a:p>
            <a:pPr marL="285750" indent="-285750">
              <a:buFont typeface="Wingdings" pitchFamily="2" charset="2"/>
              <a:buChar char="Ø"/>
            </a:pPr>
            <a:r>
              <a:rPr lang="en-US" b="1" i="1" dirty="0"/>
              <a:t>Being part social network means understanding the security . Risk that that online user can face ; which is identity fraud.</a:t>
            </a:r>
          </a:p>
          <a:p>
            <a:pPr marL="285750" indent="-285750">
              <a:buFont typeface="Wingdings" pitchFamily="2" charset="2"/>
              <a:buChar char="Ø"/>
            </a:pPr>
            <a:r>
              <a:rPr lang="en-US" b="1" i="1" dirty="0"/>
              <a:t>Anyone can forge  a false identity on a social network and pose as someone else . Without verification of someone’s identity , one could befriend a complete stronger and even know it .</a:t>
            </a:r>
          </a:p>
          <a:p>
            <a:pPr marL="285750" indent="-285750">
              <a:buFont typeface="Wingdings" pitchFamily="2" charset="2"/>
              <a:buChar char="Ø"/>
            </a:pPr>
            <a:r>
              <a:rPr lang="en-US" b="1" i="1" dirty="0"/>
              <a:t>The possibility for hackers to commit fraud and increase the risk of identity theft .</a:t>
            </a:r>
          </a:p>
          <a:p>
            <a:pPr marL="285750" indent="-285750">
              <a:buFont typeface="Wingdings" pitchFamily="2" charset="2"/>
              <a:buChar char="Ø"/>
            </a:pPr>
            <a:endParaRPr lang="en-US" b="1" i="1"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15192" y="3468101"/>
            <a:ext cx="4231531" cy="3000792"/>
          </a:xfrm>
          <a:prstGeom prst="rect">
            <a:avLst/>
          </a:prstGeom>
        </p:spPr>
      </p:pic>
    </p:spTree>
    <p:extLst>
      <p:ext uri="{BB962C8B-B14F-4D97-AF65-F5344CB8AC3E}">
        <p14:creationId xmlns:p14="http://schemas.microsoft.com/office/powerpoint/2010/main" val="1218751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31"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1000" fill="hold"/>
                                        <p:tgtEl>
                                          <p:spTgt spid="5"/>
                                        </p:tgtEl>
                                        <p:attrNameLst>
                                          <p:attrName>ppt_w</p:attrName>
                                        </p:attrNameLst>
                                      </p:cBhvr>
                                      <p:tavLst>
                                        <p:tav tm="0">
                                          <p:val>
                                            <p:fltVal val="0"/>
                                          </p:val>
                                        </p:tav>
                                        <p:tav tm="100000">
                                          <p:val>
                                            <p:strVal val="#ppt_w"/>
                                          </p:val>
                                        </p:tav>
                                      </p:tavLst>
                                    </p:anim>
                                    <p:anim calcmode="lin" valueType="num">
                                      <p:cBhvr>
                                        <p:cTn id="33" dur="1000" fill="hold"/>
                                        <p:tgtEl>
                                          <p:spTgt spid="5"/>
                                        </p:tgtEl>
                                        <p:attrNameLst>
                                          <p:attrName>ppt_h</p:attrName>
                                        </p:attrNameLst>
                                      </p:cBhvr>
                                      <p:tavLst>
                                        <p:tav tm="0">
                                          <p:val>
                                            <p:fltVal val="0"/>
                                          </p:val>
                                        </p:tav>
                                        <p:tav tm="100000">
                                          <p:val>
                                            <p:strVal val="#ppt_h"/>
                                          </p:val>
                                        </p:tav>
                                      </p:tavLst>
                                    </p:anim>
                                    <p:anim calcmode="lin" valueType="num">
                                      <p:cBhvr>
                                        <p:cTn id="34" dur="1000" fill="hold"/>
                                        <p:tgtEl>
                                          <p:spTgt spid="5"/>
                                        </p:tgtEl>
                                        <p:attrNameLst>
                                          <p:attrName>style.rotation</p:attrName>
                                        </p:attrNameLst>
                                      </p:cBhvr>
                                      <p:tavLst>
                                        <p:tav tm="0">
                                          <p:val>
                                            <p:fltVal val="90"/>
                                          </p:val>
                                        </p:tav>
                                        <p:tav tm="100000">
                                          <p:val>
                                            <p:fltVal val="0"/>
                                          </p:val>
                                        </p:tav>
                                      </p:tavLst>
                                    </p:anim>
                                    <p:animEffect transition="in" filter="fade">
                                      <p:cBhvr>
                                        <p:cTn id="3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31000"/>
            <a:lum/>
          </a:blip>
          <a:srcRect/>
          <a:stretch>
            <a:fillRect t="-44000" r="-3000" b="-55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BF4DE-E779-8E81-9DF3-EA7BBBBD9A3F}"/>
              </a:ext>
            </a:extLst>
          </p:cNvPr>
          <p:cNvSpPr>
            <a:spLocks noGrp="1"/>
          </p:cNvSpPr>
          <p:nvPr>
            <p:ph type="title"/>
          </p:nvPr>
        </p:nvSpPr>
        <p:spPr/>
        <p:txBody>
          <a:bodyPr/>
          <a:lstStyle/>
          <a:p>
            <a:r>
              <a:rPr lang="en-US" dirty="0">
                <a:solidFill>
                  <a:schemeClr val="accent5">
                    <a:lumMod val="50000"/>
                  </a:schemeClr>
                </a:solidFill>
              </a:rPr>
              <a:t>Lack Of Privacy</a:t>
            </a:r>
            <a:endParaRPr lang="en-IN" dirty="0">
              <a:solidFill>
                <a:schemeClr val="accent5">
                  <a:lumMod val="50000"/>
                </a:schemeClr>
              </a:solidFill>
            </a:endParaRPr>
          </a:p>
        </p:txBody>
      </p:sp>
      <p:sp>
        <p:nvSpPr>
          <p:cNvPr id="3" name="TextBox 2"/>
          <p:cNvSpPr txBox="1"/>
          <p:nvPr/>
        </p:nvSpPr>
        <p:spPr>
          <a:xfrm>
            <a:off x="486382" y="1021404"/>
            <a:ext cx="10398869" cy="3416320"/>
          </a:xfrm>
          <a:prstGeom prst="rect">
            <a:avLst/>
          </a:prstGeom>
          <a:noFill/>
        </p:spPr>
        <p:txBody>
          <a:bodyPr wrap="square" rtlCol="0">
            <a:spAutoFit/>
          </a:bodyPr>
          <a:lstStyle/>
          <a:p>
            <a:pPr marL="285750" indent="-285750">
              <a:buFont typeface="Wingdings" pitchFamily="2" charset="2"/>
              <a:buChar char="Ø"/>
            </a:pPr>
            <a:r>
              <a:rPr lang="en-US" sz="2400" b="1" i="1" dirty="0"/>
              <a:t>Lack of privacy increases vulnerability to identity theft and identity fraud, as unauthorized access to personal information enables criminals to impersonate individuals for financial or other gains</a:t>
            </a:r>
          </a:p>
          <a:p>
            <a:pPr marL="285750" indent="-285750">
              <a:buFont typeface="Wingdings" pitchFamily="2" charset="2"/>
              <a:buChar char="Ø"/>
            </a:pPr>
            <a:r>
              <a:rPr lang="en-US" sz="2400" b="1" i="1" dirty="0"/>
              <a:t> Personal data can be accessed through hacking, phishing, shredded documents, intercepted mail, unsecured online accounts, or public databases</a:t>
            </a:r>
          </a:p>
          <a:p>
            <a:pPr marL="285750" indent="-285750">
              <a:buFont typeface="Wingdings" pitchFamily="2" charset="2"/>
              <a:buChar char="Ø"/>
            </a:pPr>
            <a:r>
              <a:rPr lang="en-US" sz="2400" b="1" i="1" dirty="0"/>
              <a:t> Not all privacy breaches are due to direct malicious acts; some are due to weak architectures of data protection, leaving individuals helpless to control access to their information</a:t>
            </a:r>
          </a:p>
        </p:txBody>
      </p:sp>
    </p:spTree>
    <p:extLst>
      <p:ext uri="{BB962C8B-B14F-4D97-AF65-F5344CB8AC3E}">
        <p14:creationId xmlns:p14="http://schemas.microsoft.com/office/powerpoint/2010/main" val="869945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4">
                    <a:lumMod val="50000"/>
                  </a:schemeClr>
                </a:solidFill>
              </a:rPr>
              <a:t>Others Disadvantages </a:t>
            </a:r>
            <a:br>
              <a:rPr lang="en-US" dirty="0">
                <a:solidFill>
                  <a:schemeClr val="accent4">
                    <a:lumMod val="50000"/>
                  </a:schemeClr>
                </a:solidFill>
              </a:rPr>
            </a:br>
            <a:endParaRPr lang="en-US" dirty="0">
              <a:solidFill>
                <a:schemeClr val="accent4">
                  <a:lumMod val="50000"/>
                </a:schemeClr>
              </a:solidFill>
            </a:endParaRPr>
          </a:p>
        </p:txBody>
      </p:sp>
      <p:sp>
        <p:nvSpPr>
          <p:cNvPr id="3" name="TextBox 2"/>
          <p:cNvSpPr txBox="1"/>
          <p:nvPr/>
        </p:nvSpPr>
        <p:spPr>
          <a:xfrm>
            <a:off x="846307" y="1799618"/>
            <a:ext cx="10982527" cy="2585323"/>
          </a:xfrm>
          <a:prstGeom prst="rect">
            <a:avLst/>
          </a:prstGeom>
          <a:noFill/>
        </p:spPr>
        <p:txBody>
          <a:bodyPr wrap="square" rtlCol="0">
            <a:spAutoFit/>
          </a:bodyPr>
          <a:lstStyle/>
          <a:p>
            <a:pPr marL="285750" indent="-285750">
              <a:buFont typeface="Wingdings" pitchFamily="2" charset="2"/>
              <a:buChar char="Ø"/>
            </a:pPr>
            <a:r>
              <a:rPr lang="en-US" b="1" i="1" dirty="0"/>
              <a:t>The design of social media encourages addictive behaviors, such as endless scrolling and frequent notifications. This can lead to reduced productivity, disrupted sleep, and diminished face-to-face interactions, with users spending hours daily on platforms instead of engaging in real-life activities .</a:t>
            </a:r>
          </a:p>
          <a:p>
            <a:pPr marL="285750" indent="-285750">
              <a:buFont typeface="Wingdings" pitchFamily="2" charset="2"/>
              <a:buChar char="Ø"/>
            </a:pPr>
            <a:r>
              <a:rPr lang="en-US" b="1" i="1" dirty="0"/>
              <a:t>Social media can promote superficial connections rather than meaningful relationships</a:t>
            </a:r>
          </a:p>
          <a:p>
            <a:pPr marL="285750" indent="-285750">
              <a:buFont typeface="Wingdings" pitchFamily="2" charset="2"/>
              <a:buChar char="Ø"/>
            </a:pPr>
            <a:r>
              <a:rPr lang="en-US" b="1" i="1" dirty="0"/>
              <a:t>Social media platforms collect vast amounts of personal data, including browsing habits, location, and personal preferences. This information can be exploited by third parties, sold to advertisers, or exposed through data breaches. Users who overshare sensitive information risk identity theft, fraud, or unwanted attention </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b="18008"/>
          <a:stretch/>
        </p:blipFill>
        <p:spPr>
          <a:xfrm>
            <a:off x="7551096" y="4028568"/>
            <a:ext cx="3538436" cy="2527874"/>
          </a:xfrm>
          <a:prstGeom prst="rect">
            <a:avLst/>
          </a:prstGeom>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4398" t="23483" r="4328" b="10079"/>
          <a:stretch/>
        </p:blipFill>
        <p:spPr>
          <a:xfrm>
            <a:off x="1274322" y="4344729"/>
            <a:ext cx="2848381" cy="2328446"/>
          </a:xfrm>
          <a:prstGeom prst="rect">
            <a:avLst/>
          </a:prstGeom>
        </p:spPr>
      </p:pic>
    </p:spTree>
    <p:extLst>
      <p:ext uri="{BB962C8B-B14F-4D97-AF65-F5344CB8AC3E}">
        <p14:creationId xmlns:p14="http://schemas.microsoft.com/office/powerpoint/2010/main" val="14241878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ppt_w</p:attrName>
                                        </p:attrNameLst>
                                      </p:cBhvr>
                                      <p:tavLst>
                                        <p:tav tm="0">
                                          <p:val>
                                            <p:fltVal val="0"/>
                                          </p:val>
                                        </p:tav>
                                        <p:tav tm="100000">
                                          <p:val>
                                            <p:strVal val="#ppt_w"/>
                                          </p:val>
                                        </p:tav>
                                      </p:tavLst>
                                    </p:anim>
                                    <p:anim calcmode="lin" valueType="num">
                                      <p:cBhvr>
                                        <p:cTn id="15" dur="1000" fill="hold"/>
                                        <p:tgtEl>
                                          <p:spTgt spid="3"/>
                                        </p:tgtEl>
                                        <p:attrNameLst>
                                          <p:attrName>ppt_h</p:attrName>
                                        </p:attrNameLst>
                                      </p:cBhvr>
                                      <p:tavLst>
                                        <p:tav tm="0">
                                          <p:val>
                                            <p:fltVal val="0"/>
                                          </p:val>
                                        </p:tav>
                                        <p:tav tm="100000">
                                          <p:val>
                                            <p:strVal val="#ppt_h"/>
                                          </p:val>
                                        </p:tav>
                                      </p:tavLst>
                                    </p:anim>
                                    <p:anim calcmode="lin" valueType="num">
                                      <p:cBhvr>
                                        <p:cTn id="16" dur="1000" fill="hold"/>
                                        <p:tgtEl>
                                          <p:spTgt spid="3"/>
                                        </p:tgtEl>
                                        <p:attrNameLst>
                                          <p:attrName>style.rotation</p:attrName>
                                        </p:attrNameLst>
                                      </p:cBhvr>
                                      <p:tavLst>
                                        <p:tav tm="0">
                                          <p:val>
                                            <p:fltVal val="90"/>
                                          </p:val>
                                        </p:tav>
                                        <p:tav tm="100000">
                                          <p:val>
                                            <p:fltVal val="0"/>
                                          </p:val>
                                        </p:tav>
                                      </p:tavLst>
                                    </p:anim>
                                    <p:animEffect transition="in" filter="fade">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2B4A-F90A-BDD6-1293-5DAB6631F38C}"/>
              </a:ext>
            </a:extLst>
          </p:cNvPr>
          <p:cNvSpPr>
            <a:spLocks noGrp="1"/>
          </p:cNvSpPr>
          <p:nvPr>
            <p:ph type="title"/>
          </p:nvPr>
        </p:nvSpPr>
        <p:spPr/>
        <p:txBody>
          <a:bodyPr/>
          <a:lstStyle/>
          <a:p>
            <a:r>
              <a:rPr lang="en-US" dirty="0">
                <a:solidFill>
                  <a:schemeClr val="accent6">
                    <a:lumMod val="50000"/>
                  </a:schemeClr>
                </a:solidFill>
              </a:rPr>
              <a:t>Conclusion</a:t>
            </a:r>
            <a:br>
              <a:rPr lang="en-US" dirty="0">
                <a:solidFill>
                  <a:schemeClr val="accent6">
                    <a:lumMod val="50000"/>
                  </a:schemeClr>
                </a:solidFill>
              </a:rPr>
            </a:br>
            <a:endParaRPr lang="en-IN" dirty="0">
              <a:solidFill>
                <a:schemeClr val="accent6">
                  <a:lumMod val="50000"/>
                </a:schemeClr>
              </a:solidFill>
            </a:endParaRPr>
          </a:p>
        </p:txBody>
      </p:sp>
      <p:sp>
        <p:nvSpPr>
          <p:cNvPr id="3" name="TextBox 2"/>
          <p:cNvSpPr txBox="1"/>
          <p:nvPr/>
        </p:nvSpPr>
        <p:spPr>
          <a:xfrm>
            <a:off x="719848" y="1186774"/>
            <a:ext cx="8900807" cy="2334639"/>
          </a:xfrm>
          <a:prstGeom prst="rect">
            <a:avLst/>
          </a:prstGeom>
          <a:noFill/>
        </p:spPr>
        <p:txBody>
          <a:bodyPr wrap="square" rtlCol="0">
            <a:spAutoFit/>
          </a:bodyPr>
          <a:lstStyle/>
          <a:p>
            <a:r>
              <a:rPr lang="en-US" b="1" i="1" dirty="0"/>
              <a:t>In conclusion, social media has transformed the way people communicate and access information, providing platforms for social connection, professional networking, and educational opportunities. However, excessive use can lead to negative outcomes, including addiction, exposure to misleading content, and reduced face-to-face interactions. While social media fosters engagement and broadens perspectives, users must navigate its risks responsibly, balancing the benefits with mindful usage to maintain mental well-being and protect personal privacy.</a:t>
            </a:r>
          </a:p>
        </p:txBody>
      </p:sp>
    </p:spTree>
    <p:extLst>
      <p:ext uri="{BB962C8B-B14F-4D97-AF65-F5344CB8AC3E}">
        <p14:creationId xmlns:p14="http://schemas.microsoft.com/office/powerpoint/2010/main" val="2061893007"/>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80">
                                          <p:stCondLst>
                                            <p:cond delay="0"/>
                                          </p:stCondLst>
                                        </p:cTn>
                                        <p:tgtEl>
                                          <p:spTgt spid="3"/>
                                        </p:tgtEl>
                                      </p:cBhvr>
                                    </p:animEffect>
                                    <p:anim calcmode="lin" valueType="num">
                                      <p:cBhvr>
                                        <p:cTn id="1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gtEl>
                                      </p:cBhvr>
                                      <p:to x="100000" y="60000"/>
                                    </p:animScale>
                                    <p:animScale>
                                      <p:cBhvr>
                                        <p:cTn id="20" dur="166" decel="50000">
                                          <p:stCondLst>
                                            <p:cond delay="676"/>
                                          </p:stCondLst>
                                        </p:cTn>
                                        <p:tgtEl>
                                          <p:spTgt spid="3"/>
                                        </p:tgtEl>
                                      </p:cBhvr>
                                      <p:to x="100000" y="100000"/>
                                    </p:animScale>
                                    <p:animScale>
                                      <p:cBhvr>
                                        <p:cTn id="21" dur="26">
                                          <p:stCondLst>
                                            <p:cond delay="1312"/>
                                          </p:stCondLst>
                                        </p:cTn>
                                        <p:tgtEl>
                                          <p:spTgt spid="3"/>
                                        </p:tgtEl>
                                      </p:cBhvr>
                                      <p:to x="100000" y="80000"/>
                                    </p:animScale>
                                    <p:animScale>
                                      <p:cBhvr>
                                        <p:cTn id="22" dur="166" decel="50000">
                                          <p:stCondLst>
                                            <p:cond delay="1338"/>
                                          </p:stCondLst>
                                        </p:cTn>
                                        <p:tgtEl>
                                          <p:spTgt spid="3"/>
                                        </p:tgtEl>
                                      </p:cBhvr>
                                      <p:to x="100000" y="100000"/>
                                    </p:animScale>
                                    <p:animScale>
                                      <p:cBhvr>
                                        <p:cTn id="23" dur="26">
                                          <p:stCondLst>
                                            <p:cond delay="1642"/>
                                          </p:stCondLst>
                                        </p:cTn>
                                        <p:tgtEl>
                                          <p:spTgt spid="3"/>
                                        </p:tgtEl>
                                      </p:cBhvr>
                                      <p:to x="100000" y="90000"/>
                                    </p:animScale>
                                    <p:animScale>
                                      <p:cBhvr>
                                        <p:cTn id="24" dur="166" decel="50000">
                                          <p:stCondLst>
                                            <p:cond delay="1668"/>
                                          </p:stCondLst>
                                        </p:cTn>
                                        <p:tgtEl>
                                          <p:spTgt spid="3"/>
                                        </p:tgtEl>
                                      </p:cBhvr>
                                      <p:to x="100000" y="100000"/>
                                    </p:animScale>
                                    <p:animScale>
                                      <p:cBhvr>
                                        <p:cTn id="25" dur="26">
                                          <p:stCondLst>
                                            <p:cond delay="1808"/>
                                          </p:stCondLst>
                                        </p:cTn>
                                        <p:tgtEl>
                                          <p:spTgt spid="3"/>
                                        </p:tgtEl>
                                      </p:cBhvr>
                                      <p:to x="100000" y="95000"/>
                                    </p:animScale>
                                    <p:animScale>
                                      <p:cBhvr>
                                        <p:cTn id="26"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 id="{A3F6A081-B6B6-4005-A8B4-E4DB51F0D83A}" vid="{06B4A534-080E-4F92-B8E7-6D90CB76FF92}"/>
    </a:ext>
  </a:extLst>
</a:theme>
</file>

<file path=docProps/app.xml><?xml version="1.0" encoding="utf-8"?>
<Properties xmlns="http://schemas.openxmlformats.org/officeDocument/2006/extended-properties" xmlns:vt="http://schemas.openxmlformats.org/officeDocument/2006/docPropsVTypes">
  <Template>Concourse</Template>
  <TotalTime>248</TotalTime>
  <Words>678</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Algerian</vt:lpstr>
      <vt:lpstr>Arial</vt:lpstr>
      <vt:lpstr>JasmineUPC</vt:lpstr>
      <vt:lpstr>Raleway</vt:lpstr>
      <vt:lpstr>Wingdings</vt:lpstr>
      <vt:lpstr>School Days</vt:lpstr>
      <vt:lpstr>ADVANTAGE AND DISADVANTAGE    OF SOC IAL MEDIA</vt:lpstr>
      <vt:lpstr>Social Networking</vt:lpstr>
      <vt:lpstr>Advantage Of Social Networking</vt:lpstr>
      <vt:lpstr>Worldwide connectivity</vt:lpstr>
      <vt:lpstr>Real-Time Information sharing</vt:lpstr>
      <vt:lpstr>Free Advertising</vt:lpstr>
      <vt:lpstr>Disadvantage Of Social Media</vt:lpstr>
      <vt:lpstr>Cyber Bullying</vt:lpstr>
      <vt:lpstr>Higher risk of fraud and identity </vt:lpstr>
      <vt:lpstr>Lack Of Privacy</vt:lpstr>
      <vt:lpstr>Others Disadvantages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ADVANTAGE AND DISADVANTAGE    OF SOC IAL MEDIA</dc:title>
  <dc:creator>pmondal69771@gmail.com</dc:creator>
  <cp:lastModifiedBy>pmondal69771@gmail.com</cp:lastModifiedBy>
  <cp:revision>18</cp:revision>
  <dcterms:created xsi:type="dcterms:W3CDTF">2026-10-03T14:56:45Z</dcterms:created>
  <dcterms:modified xsi:type="dcterms:W3CDTF">2026-10-15T05:40:36Z</dcterms:modified>
</cp:coreProperties>
</file>